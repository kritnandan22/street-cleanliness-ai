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54680"/>
            <a:ext cx="9692640" cy="54864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StreetClean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6FF"/>
                </a:solidFill>
              </a:rPr>
              <a:t>Context-Aware &amp; Spatially-Intelligent Urban Cleanliness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EE-655 Advanced ML Project  ·  Group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Kritnandan Sharma  ·  Roll No. 220550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CCDDFF"/>
                </a:solidFill>
              </a:rPr>
              <a:t>•  Goes beyond naive litter counting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DDFF"/>
                </a:solidFill>
              </a:rPr>
              <a:t>•  Ecologically-weighted scoring with spatial hotspot detection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CCDDFF"/>
                </a:solidFill>
              </a:rPr>
              <a:t>•  Deployed on Hugging Face Spaces (edge + 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7080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Naive Litter Counting Fails Real-World Sanitation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2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657600" cy="3931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657600" cy="45720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Problem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55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5BAA"/>
                </a:solidFill>
              </a:rPr>
              <a:t>Context Insensitivity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860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5 pieces of litter in a botanical garden ≠ 5 in a downtown alleyway. Same count, vastly different severity.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234440"/>
            <a:ext cx="3657600" cy="3931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34440"/>
            <a:ext cx="36576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Problem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755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Ecological Blindness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860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 plastic jug (400-yr decay) contributes the same score as a biodegradable apple core in naive count-based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34440"/>
            <a:ext cx="3657600" cy="3931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Problem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1755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7E04"/>
                </a:solidFill>
              </a:rPr>
              <a:t>Spatial Ignorance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2860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50 pieces scattered homogeneously vs. 50 in an illegal dumping hotspot require entirely different fleet routing.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49240"/>
            <a:ext cx="11640312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13248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294E"/>
                </a:solidFill>
              </a:rPr>
              <a:t>INPUT: Street image tensor  ℝ³ˣᴴˣᵂ   ·   OUTPUT: Cleanliness score Q ∈ [0.0, 5.0] + spatial hotspot map   ·   CONSTRAINTS: ≤512 MB RAM, CPU-only inference, real-time (&lt;200 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Prior Work Stops at Object Recall — We Go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3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70432"/>
            <a:ext cx="3657600" cy="41148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Waste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Haar Cascades + SVMs → CNNs (2015→)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TACO dataset (2020) enabled multi-class waste mapping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YOLOv5/v8 achieve real-time detection on edge CPUs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❌ All prior work optimizes purely for bounding-box 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70432"/>
            <a:ext cx="3657600" cy="41148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Scene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ImageNet pre-training = standard for env. topology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ResNet, EfficientNet dominate scene recognition benchmarks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MobileNetV2 chosen here: ~45 ms on 512 MB RAM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❌ Never fused with waste detection pipelines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70432"/>
            <a:ext cx="3657600" cy="41148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Scoring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No established ecological weighting in litter scoring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Municipal systems use raw headcounts for resource allocation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Academic metrics: mAP, IoU — no cleanliness 'score'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❌ Spatial density distribution entirely ignored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32120"/>
            <a:ext cx="11640312" cy="7772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6FF"/>
                </a:solidFill>
              </a:rPr>
              <a:t>Gap: No existing system combines ecological weighting + context normalisation + spatial hotspot detection in a single deployable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StreetClean AI Fills Three Critical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Gap Identification &amp; Key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4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1612880" cy="1508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80160"/>
            <a:ext cx="109728" cy="150876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7080"/>
                </a:solidFill>
              </a:rPr>
              <a:t>Gap 1 — Context Blindness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</a:rPr>
              <a:t>→  Scene-Dependent Context Normalisation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MobileNetV2 scene classifier sets dynamic per-scene thresholds (B_scene). Score is dampened relative to how unusual litter density is for that environment.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71800"/>
            <a:ext cx="11612880" cy="1508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971800"/>
            <a:ext cx="109728" cy="150876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7080"/>
                </a:solidFill>
              </a:rPr>
              <a:t>Gap 2 — Ecological Blindness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</a:rPr>
              <a:t>→  Ecological-Weighted Semantic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76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Each detected class carries a chemical persistence weight: W_plastic=1.0, W_metal=0.9, W_glass=0.85, W_paper=0.6, W_organic=0.4. Score penalizes high-persistence materials proportionally.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63440"/>
            <a:ext cx="11612880" cy="1508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109728" cy="150876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7080"/>
                </a:solidFill>
              </a:rPr>
              <a:t>Gap 3 — Spatial Ignorance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</a:rPr>
              <a:t>→  Gaussian Spatial Heatmap Topology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811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8×8 down-sampled Gaussian probability zones computed from detection centroids. Grid cells exceeding θ₇₅ threshold trigger high-severity Hotspot events for robotic fleet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Four-Stage Inference Pipeline Fuses Detection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Proposed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743200" cy="45720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44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47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4E"/>
                </a:solidFill>
              </a:rPr>
              <a:t>YOLOv8n
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42032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Fine-tuned on TACO subset.
Extracts B={b₁..bₙ}, classes Cᵢ, conf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5BAA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325880"/>
            <a:ext cx="27432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325880"/>
            <a:ext cx="2743200" cy="45720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344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847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4E"/>
                </a:solidFill>
              </a:rPr>
              <a:t>MobileNetV2
Scene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42032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~45ms inference.
Isolates scene ∈{indoor,park,road,street}.
Sets baseline B_scene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5BAA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25880"/>
            <a:ext cx="27432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325880"/>
            <a:ext cx="2743200" cy="45720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344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847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4E"/>
                </a:solidFill>
              </a:rPr>
              <a:t>Dual
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542032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Context Score Q_C (dampened decay)
Eco Score P_S (persistence-weighted)
Fusion: Q_D = blend(Q_C, P_S)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65BAA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1325880"/>
            <a:ext cx="2743200" cy="4114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1325880"/>
            <a:ext cx="2743200" cy="45720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1344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84708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4E"/>
                </a:solidFill>
              </a:rPr>
              <a:t>Spatial
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542032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8×8 Gaussian zones from centroids.
Hotspot trigger if zone &gt; θ₇₅.
Fleet routing API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77840"/>
            <a:ext cx="11640312" cy="7772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6FF"/>
                </a:solidFill>
              </a:rPr>
              <a:t>Training: CIoU Loss  +  BCE (classification)  +  DFL  |  AdamW  η=0.001  |  30 epochs on TACO subset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Mathematical Backbone: From Detections to Cleanliness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Proposed Methodology — Scoring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1640312" cy="1417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91440" cy="14173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93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Context Normalisation Score  (Q_C)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5BAA"/>
                </a:solidFill>
              </a:rPr>
              <a:t>Q_C = (1 - min(R, 2.0)/2.0) × 5.0
where  R = Σᵢ(confᵢ × scaleᵢ) / B_scene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32588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Dampened decay function. R normalises total detected litter severity against scene baseline B_scene. max score 5.0 = perfectly clean; score drops as R rises.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11640312" cy="1417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91440" cy="14173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Ecological Persistence Score  (P_S)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5BAA"/>
                </a:solidFill>
              </a:rPr>
              <a:t>P_S = Σᵢ  Wᵢ · (area(bᵢ)/H×W)^α · confᵢ
W: plastic=1.0, metal=0.9, glass=0.85, paper=0.6, organic=0.4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2608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Each detection penalises score proportional to chemical persistence weight × fractional pixel area × confidence. Large plastic items incur maximum penalty.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34840"/>
            <a:ext cx="11640312" cy="1417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34840"/>
            <a:ext cx="91440" cy="1417320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9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94E"/>
                </a:solidFill>
              </a:rPr>
              <a:t>Gaussian Spatial Heatmap  H(x,y)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006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5BAA"/>
                </a:solidFill>
              </a:rPr>
              <a:t>H(x,y) = Σᵢ  (1/2πσ²) · exp(−[(x−xᵢ)²+(y−yᵢ)²]/2σ²)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52628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Heatmap produced by summing Gaussians centred at each detection centroid. 8×8 grid cells exceeding threshold θ₇₅ trigger Hotspot event.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035040"/>
            <a:ext cx="11640312" cy="54864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071616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Final Score  Q_D = α · Q_C + (1-α) · Q_eco    where α is scene-dependent blending 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TACO Dataset + Real Street Images Power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Dataset &amp; Implementation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7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194560" cy="141732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TACO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6FF"/>
                </a:solidFill>
              </a:rPr>
              <a:t>Trash Annotations in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39" y="1325880"/>
            <a:ext cx="2194560" cy="141732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~3,500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6FF"/>
                </a:solidFill>
              </a:rPr>
              <a:t>TACO subset used for 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Training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1325880"/>
            <a:ext cx="2194560" cy="141732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6FF"/>
                </a:solidFill>
              </a:rPr>
              <a:t>Real street scenes (10+ batches)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Eval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325880"/>
            <a:ext cx="2194560" cy="141732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6FF"/>
                </a:solidFill>
              </a:rPr>
              <a:t>plastic, glass, metal, paper, organic, other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325880"/>
            <a:ext cx="2194560" cy="141732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C6FF"/>
                </a:solidFill>
              </a:rPr>
              <a:t>per image (σ=1.31, max=7)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30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Avg Detections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5486400" cy="3337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</a:rPr>
              <a:t>Tech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3832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YOLOv8n (Ultralytics) — object detection backbone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MobileNetV2 (torchvision) — scene classification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PyTorch  |  OpenCV  |  Flask / Gradio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AdamW optimizer  η=0.001  λ=0.0005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30 epochs  |  img-size 640  |  batch 16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CPU inference: &lt;200 ms per image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Deployed: Hugging Face Spaces (512 MB RAM)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926080"/>
            <a:ext cx="5760720" cy="3337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971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</a:rPr>
              <a:t>Ecological Persistence Weights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3383280"/>
            <a:ext cx="1609344" cy="3657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4198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73567" y="3383280"/>
            <a:ext cx="603504" cy="3657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0999" y="34198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59368" y="3383280"/>
            <a:ext cx="3072384" cy="3657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Decomposition Timeline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8" y="3776472"/>
            <a:ext cx="160934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813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Plastic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73567" y="3776472"/>
            <a:ext cx="60350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0999" y="38130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59368" y="3776472"/>
            <a:ext cx="307238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3813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400–500 years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81928" y="4169664"/>
            <a:ext cx="160934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Metal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73567" y="4169664"/>
            <a:ext cx="60350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0999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59368" y="4169664"/>
            <a:ext cx="307238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50–200 years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4562856"/>
            <a:ext cx="160934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599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Glass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3567" y="4562856"/>
            <a:ext cx="60350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00999" y="45994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0.85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9368" y="4562856"/>
            <a:ext cx="307238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0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 million years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81928" y="4956048"/>
            <a:ext cx="160934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9926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Paper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73567" y="4956048"/>
            <a:ext cx="60350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00999" y="49926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59368" y="4956048"/>
            <a:ext cx="307238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4992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2–6 weeks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81928" y="5349240"/>
            <a:ext cx="160934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53858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Organic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7" y="5349240"/>
            <a:ext cx="60350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00999" y="538581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0.40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59368" y="5349240"/>
            <a:ext cx="307238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53858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Days to weeks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81928" y="5742432"/>
            <a:ext cx="160934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79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Other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73567" y="5742432"/>
            <a:ext cx="60350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00999" y="57790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0.70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59368" y="5742432"/>
            <a:ext cx="3072384" cy="365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0" y="57790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Variable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Converges in 30 Epochs with Strong mAP@50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Training Results &amp;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8 / 12</a:t>
            </a:r>
          </a:p>
        </p:txBody>
      </p:sp>
      <p:pic>
        <p:nvPicPr>
          <p:cNvPr id="10" name="Picture 9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132320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0292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080"/>
                </a:solidFill>
              </a:rPr>
              <a:t>Training Curves — Final Model (taco_cleanliness run)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234440"/>
            <a:ext cx="4297680" cy="51206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25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</a:rPr>
              <a:t>Key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1874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</a:rPr>
              <a:t>mAP@50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18470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65BAA"/>
                </a:solidFill>
              </a:rPr>
              <a:t>≈ 0.52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21284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Mean average precision (val set)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542032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2587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</a:rPr>
              <a:t>mAP@50-95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560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65BAA"/>
                </a:solidFill>
              </a:rPr>
              <a:t>≈ 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926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Stricter IoU threshold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255264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3300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</a:rP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27355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65BAA"/>
                </a:solidFill>
              </a:rPr>
              <a:t>≈ 0.61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363931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Avg across all 6 classes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968496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7" y="4014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</a:rPr>
              <a:t>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9867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65BAA"/>
                </a:solidFill>
              </a:rPr>
              <a:t>≈ 0.48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43525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Avg across all 6 classes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681728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4727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</a:rPr>
              <a:t>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7000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65BAA"/>
                </a:solidFill>
              </a:rPr>
              <a:t>&lt;200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506577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CPU, single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5394960"/>
            <a:ext cx="39319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2127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7080"/>
                </a:solidFill>
              </a:rPr>
              <a:t>Epochs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4132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65BAA"/>
                </a:solidFill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577900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With early stopping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Context-Aware Scoring Outperforms Naive Count on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Ablation Study — 104 Real Street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9 / 12</a:t>
            </a:r>
          </a:p>
        </p:txBody>
      </p:sp>
      <p:pic>
        <p:nvPicPr>
          <p:cNvPr id="10" name="Picture 9" descr="abl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58368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2120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7080"/>
                </a:solidFill>
              </a:rPr>
              <a:t>Figure: Mode comparison across 104 images (scores 0–5, higher = cleaner)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234440"/>
            <a:ext cx="4754880" cy="4800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Ablation Summary (104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1828800"/>
            <a:ext cx="1837943" cy="53035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874520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8008" y="1828800"/>
            <a:ext cx="603504" cy="53035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2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93808" y="1828800"/>
            <a:ext cx="603504" cy="53035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87452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96728" y="1828800"/>
            <a:ext cx="2157984" cy="53035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18745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Feature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87768" y="2395728"/>
            <a:ext cx="1837943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441448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 — Raw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8008" y="2395728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44144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4.68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93808" y="2395728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44144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96728" y="2395728"/>
            <a:ext cx="215798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244144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Naive object count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87768" y="2962656"/>
            <a:ext cx="1837943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008376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 — Context Aware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08008" y="2962656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300837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4.84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2962656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300837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6728" y="2962656"/>
            <a:ext cx="215798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300837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Scene normalisation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87768" y="3529584"/>
            <a:ext cx="1837943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3575304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 — Weighted Semantic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8008" y="3529584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57530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2.99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93808" y="3529584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357530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2.09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96728" y="3529584"/>
            <a:ext cx="215798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357530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+ Eco weights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87768" y="4096512"/>
            <a:ext cx="1837943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4142232"/>
            <a:ext cx="1783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 — Full Pipeline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08008" y="4096512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41422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4.01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93808" y="4096512"/>
            <a:ext cx="60350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41422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96728" y="4096512"/>
            <a:ext cx="2157984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0" y="4142232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A+B+C combined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6126480"/>
            <a:ext cx="4754880" cy="50292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616305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 B raises mean by +0.16 ↑  |  Mode C lowers std by 50% ↑  →  Full pipeline best 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4-Quadrant Dashboard: Detection → Score → Spatial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System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10 / 12</a:t>
            </a:r>
          </a:p>
        </p:txBody>
      </p:sp>
      <p:pic>
        <p:nvPicPr>
          <p:cNvPr id="10" name="Picture 9" descr="000083_context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315200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37160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Upper Left: Raw Input
Upper Right: YOLO Detection with Bounding Boxes
Lower Left: Spatial Heatmap (Gaussian density zones)
Lower Right: Ecological Score + Context Panel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749039"/>
            <a:ext cx="402336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840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4E"/>
                </a:solidFill>
              </a:rPr>
              <a:t>Inference on Image #000083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Detections: Multiple litter items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Scene: Street / outdoor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Context Score Q_C: Penalised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Eco Score P_S: High (plastics detected)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Hotspot: Activated (dense cluster)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</a:rPr>
              <a:t>•  Final Q_D: ~2.68 / 5.0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Three Validated Insights Drive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Key Insights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11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11640312" cy="1508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164592" cy="1508760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5BAA"/>
                </a:solidFill>
              </a:rPr>
              <a:t>Insight 1: Context Normalisation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562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 B scores reduce variance (σ: 0.33→0.16) vs naive counting. Clean streets near-perfectly scored; dirty ones correctly penalised.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640312" cy="1508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64592" cy="1508760"/>
          </a:xfrm>
          <a:prstGeom prst="rect">
            <a:avLst/>
          </a:prstGeom>
          <a:solidFill>
            <a:srgbClr val="E87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E04"/>
                </a:solidFill>
              </a:rPr>
              <a:t>Insight 2: Ecological weighting is volatile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 C alone has σ=2.09 — highly sensitive to class distribution. Must be fused with context signal (Mode D) to stabilise scoring.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11640312" cy="15087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709160"/>
            <a:ext cx="16459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Insight 3: Spatial heatmaps enable actionable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395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8×8 Gaussian grid provides fleet-ready hotspot coordinates. Tested on images with up to 7 detections — hotspot triggers correctly activated.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217920"/>
            <a:ext cx="11640312" cy="384048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362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6FF"/>
                </a:solidFill>
              </a:rPr>
              <a:t>System deployed on Hugging Face Spaces — CPU inference &lt;200ms on 512 MB RAM instances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StreetClean AI: From Pixel Counts to Municipal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6FF"/>
                </a:solidFill>
              </a:rPr>
              <a:t>Conclusion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7080"/>
                </a:solidFill>
              </a:rPr>
              <a:t>StreetClean AI  |  EE-655 Project  |  Group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080"/>
                </a:solidFill>
              </a:rPr>
              <a:t>12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76072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94E"/>
                </a:solidFill>
              </a:rPr>
              <a:t>✅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830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 Proved that naive object counting is insufficient for real city-scale sanitation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 Context Normalisation (MobileNetV2 + YOLO fusion) reduces score variance by 50%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 Ecological weighting correctly penalises high-persistence materials (plastics)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 Gaussian spatial heatmap enables fleet-ready hotspot detection on CPU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 Full pipeline deployed on Hugging Face Spaces — publicly accessible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 Open-source codebase ready for municipal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577840" cy="50292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6FF"/>
                </a:solidFill>
              </a:rPr>
              <a:t>🚀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E8F0FE"/>
                </a:solidFill>
              </a:rPr>
              <a:t>•  Real-time GPS anchor: map heatmap zones to GIS coordinates for live fleet routing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8F0FE"/>
                </a:solidFill>
              </a:rPr>
              <a:t>•  Video inference pipeline: temporal smoothing across dashcam frame sequences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8F0FE"/>
                </a:solidFill>
              </a:rPr>
              <a:t>•  Fine-tune on 28-class full TACO dataset for finer ecological granularity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8F0FE"/>
                </a:solidFill>
              </a:rPr>
              <a:t>•  Lightweight TFLite export for Android / Raspberry Pi deployment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8F0FE"/>
                </a:solidFill>
              </a:rPr>
              <a:t>•  Active learning loop: flag low-confidence detections for human re-labelling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E8F0FE"/>
                </a:solidFill>
              </a:rPr>
              <a:t>•  Multi-city dataset collection to generalise context baselines globally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